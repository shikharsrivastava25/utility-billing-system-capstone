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7" r:id="rId6"/>
    <p:sldId id="258" r:id="rId7"/>
    <p:sldId id="288" r:id="rId8"/>
    <p:sldId id="293" r:id="rId9"/>
    <p:sldId id="289" r:id="rId10"/>
    <p:sldId id="290" r:id="rId11"/>
    <p:sldId id="286" r:id="rId12"/>
    <p:sldId id="291" r:id="rId13"/>
    <p:sldId id="292" r:id="rId14"/>
    <p:sldId id="294" r:id="rId15"/>
    <p:sldId id="295" r:id="rId16"/>
    <p:sldId id="297" r:id="rId17"/>
    <p:sldId id="296" r:id="rId18"/>
    <p:sldId id="298" r:id="rId19"/>
    <p:sldId id="2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1536192"/>
            <a:ext cx="7077456" cy="210312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Utility Billing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19568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400" kern="0" spc="0" dirty="0"/>
              <a:t>Presented by:</a:t>
            </a:r>
            <a:br>
              <a:rPr lang="en-US" sz="2400" kern="0" spc="0" dirty="0"/>
            </a:br>
            <a:r>
              <a:rPr lang="en-US" sz="2400" kern="0" spc="0" dirty="0"/>
              <a:t>Shikhar Srivastava</a:t>
            </a:r>
          </a:p>
          <a:p>
            <a:pPr marL="0" indent="0" algn="ctr">
              <a:buNone/>
            </a:pPr>
            <a:br>
              <a:rPr lang="en-US" sz="2400" kern="0" spc="0" dirty="0"/>
            </a:br>
            <a:r>
              <a:rPr lang="en-US" sz="2400" kern="0" spc="0" dirty="0"/>
              <a:t>Date:- 9/1/2026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397" y="795531"/>
            <a:ext cx="8147304" cy="1078986"/>
          </a:xfrm>
        </p:spPr>
        <p:txBody>
          <a:bodyPr>
            <a:noAutofit/>
          </a:bodyPr>
          <a:lstStyle/>
          <a:p>
            <a:r>
              <a:rPr lang="en-US" sz="4000" dirty="0"/>
              <a:t>Table of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6344" y="2179782"/>
            <a:ext cx="7177786" cy="4500418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AutoNum type="arabicPeriod"/>
            </a:pPr>
            <a:r>
              <a:rPr lang="en-US" sz="2000" kern="0" spc="0" dirty="0">
                <a:solidFill>
                  <a:schemeClr val="bg1"/>
                </a:solidFill>
              </a:rPr>
              <a:t>Business Context and Problem statement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US" sz="2000" kern="0" spc="0" dirty="0">
                <a:solidFill>
                  <a:schemeClr val="bg1"/>
                </a:solidFill>
              </a:rPr>
              <a:t>Project Objective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US" sz="2000" kern="0" spc="0" dirty="0">
                <a:solidFill>
                  <a:schemeClr val="bg1"/>
                </a:solidFill>
              </a:rPr>
              <a:t>Solution and Key Features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US" sz="2000" kern="0" spc="0" dirty="0">
                <a:solidFill>
                  <a:schemeClr val="bg1"/>
                </a:solidFill>
              </a:rPr>
              <a:t>Technology Stack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US" sz="2000" kern="0" spc="0" dirty="0">
                <a:solidFill>
                  <a:schemeClr val="bg1"/>
                </a:solidFill>
              </a:rPr>
              <a:t>System Architecture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US" sz="2000" kern="0" spc="0" dirty="0">
                <a:solidFill>
                  <a:schemeClr val="bg1"/>
                </a:solidFill>
              </a:rPr>
              <a:t>User Roles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US" sz="2000" kern="0" spc="0" dirty="0">
                <a:solidFill>
                  <a:schemeClr val="bg1"/>
                </a:solidFill>
              </a:rPr>
              <a:t>System Flowchart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US" sz="2000" kern="0" spc="0" dirty="0">
                <a:solidFill>
                  <a:schemeClr val="bg1"/>
                </a:solidFill>
              </a:rPr>
              <a:t>Security Features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US" sz="2000" kern="0" spc="0" dirty="0">
                <a:solidFill>
                  <a:schemeClr val="bg1"/>
                </a:solidFill>
              </a:rPr>
              <a:t>Quality Assurance and Testing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US" sz="2000" kern="0" spc="0" dirty="0">
                <a:solidFill>
                  <a:schemeClr val="bg1"/>
                </a:solidFill>
              </a:rPr>
              <a:t>Project Screenshots</a:t>
            </a:r>
          </a:p>
          <a:p>
            <a:pPr marL="342900" indent="-342900">
              <a:buAutoNum type="arabicPeriod"/>
            </a:pPr>
            <a:endParaRPr lang="en-US" kern="0" spc="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CA4069E-1743-AA9A-A355-1C56C0AA7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90931"/>
          </a:xfrm>
        </p:spPr>
        <p:txBody>
          <a:bodyPr/>
          <a:lstStyle/>
          <a:p>
            <a:r>
              <a:rPr lang="en-US" sz="2800" dirty="0"/>
              <a:t>Business Context </a:t>
            </a:r>
            <a:r>
              <a:rPr kumimoji="0" lang="en-IN" sz="36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&amp;</a:t>
            </a:r>
            <a:r>
              <a:rPr lang="en-US" sz="2800" dirty="0"/>
              <a:t> Problem Statement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49232D-3C41-EB51-9005-F09BDED6C6D0}"/>
              </a:ext>
            </a:extLst>
          </p:cNvPr>
          <p:cNvSpPr txBox="1"/>
          <p:nvPr/>
        </p:nvSpPr>
        <p:spPr>
          <a:xfrm>
            <a:off x="526474" y="1487055"/>
            <a:ext cx="9797102" cy="5646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The Current Landscape</a:t>
            </a:r>
          </a:p>
          <a:p>
            <a:pPr marL="434975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3E3E3"/>
              </a:buClr>
              <a:buSzPts val="125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Utility providers manage thousands of consumer connections and billing cycles.</a:t>
            </a:r>
          </a:p>
          <a:p>
            <a:pPr marL="434975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25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Reliance on </a:t>
            </a:r>
            <a:r>
              <a:rPr lang="en-US" sz="1600" b="1" dirty="0">
                <a:solidFill>
                  <a:schemeClr val="bg1"/>
                </a:solidFill>
              </a:rPr>
              <a:t>semi-manual systems</a:t>
            </a:r>
            <a:r>
              <a:rPr lang="en-US" sz="1600" dirty="0">
                <a:solidFill>
                  <a:schemeClr val="bg1"/>
                </a:solidFill>
              </a:rPr>
              <a:t> leads to critical inefficiencies.</a:t>
            </a: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The Core Challenges</a:t>
            </a: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Lack of Oversight: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Limited visibility into outstanding consumer dues and revenue leakage.</a:t>
            </a:r>
            <a:endParaRPr lang="en-US" sz="1600" b="1" dirty="0">
              <a:solidFill>
                <a:schemeClr val="bg1"/>
              </a:solidFill>
            </a:endParaRPr>
          </a:p>
          <a:p>
            <a:pPr marL="457200" lvl="0" indent="-307975" algn="l" rtl="0">
              <a:spcBef>
                <a:spcPts val="600"/>
              </a:spcBef>
              <a:spcAft>
                <a:spcPts val="200"/>
              </a:spcAft>
              <a:buClr>
                <a:srgbClr val="E3E3E3"/>
              </a:buClr>
              <a:buSzPts val="125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Operational Errors:</a:t>
            </a:r>
            <a:r>
              <a:rPr lang="en-US" sz="1600" dirty="0">
                <a:solidFill>
                  <a:schemeClr val="bg1"/>
                </a:solidFill>
              </a:rPr>
              <a:t> Frequent incorrect meter readings and billing discrepancies.</a:t>
            </a:r>
          </a:p>
          <a:p>
            <a:pPr marL="457200" lvl="0" indent="-307975" algn="l" rtl="0">
              <a:spcBef>
                <a:spcPts val="600"/>
              </a:spcBef>
              <a:spcAft>
                <a:spcPts val="200"/>
              </a:spcAft>
              <a:buClr>
                <a:srgbClr val="E3E3E3"/>
              </a:buClr>
              <a:buSzPts val="125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Inefficiency:</a:t>
            </a:r>
            <a:r>
              <a:rPr lang="en-US" sz="1600" dirty="0">
                <a:solidFill>
                  <a:schemeClr val="bg1"/>
                </a:solidFill>
              </a:rPr>
              <a:t> Delayed generation of bills and difficulties in tracking real-time payments.</a:t>
            </a:r>
          </a:p>
          <a:p>
            <a:pPr marL="457200" lvl="0" indent="-307975" algn="l" rtl="0">
              <a:spcBef>
                <a:spcPts val="600"/>
              </a:spcBef>
              <a:spcAft>
                <a:spcPts val="200"/>
              </a:spcAft>
              <a:buClr>
                <a:srgbClr val="E3E3E3"/>
              </a:buClr>
              <a:buSzPts val="125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Revenue:</a:t>
            </a:r>
            <a:r>
              <a:rPr lang="en-US" sz="1600" dirty="0">
                <a:solidFill>
                  <a:schemeClr val="bg1"/>
                </a:solidFill>
              </a:rPr>
              <a:t> Limited visibility into outstanding dues and financial analytics.</a:t>
            </a:r>
          </a:p>
          <a:p>
            <a:pPr marL="457200" lvl="0" indent="-307975" algn="l" rtl="0">
              <a:spcBef>
                <a:spcPts val="600"/>
              </a:spcBef>
              <a:spcAft>
                <a:spcPts val="200"/>
              </a:spcAft>
              <a:buClr>
                <a:srgbClr val="E3E3E3"/>
              </a:buClr>
              <a:buSzPts val="125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Poor UX:</a:t>
            </a:r>
            <a:r>
              <a:rPr lang="en-US" sz="1600" dirty="0">
                <a:solidFill>
                  <a:schemeClr val="bg1"/>
                </a:solidFill>
              </a:rPr>
              <a:t> Consumers face a friction-filled experience when trying to view or pay bills.</a:t>
            </a:r>
          </a:p>
          <a:p>
            <a:pPr marL="149225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250"/>
            </a:pPr>
            <a:endParaRPr lang="en-IN" sz="1250" spc="30" dirty="0">
              <a:solidFill>
                <a:schemeClr val="bg1"/>
              </a:solidFill>
            </a:endParaRPr>
          </a:p>
          <a:p>
            <a:r>
              <a:rPr lang="en-IN" sz="2000" b="1" spc="30" dirty="0">
                <a:solidFill>
                  <a:schemeClr val="bg1"/>
                </a:solidFill>
              </a:rPr>
              <a:t>The Proposed Solution </a:t>
            </a:r>
          </a:p>
          <a:p>
            <a:pPr marL="457200" lvl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3E3E3"/>
              </a:buClr>
              <a:buSzPts val="125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Accuracy:</a:t>
            </a:r>
            <a:r>
              <a:rPr lang="en-US" sz="1600" dirty="0">
                <a:solidFill>
                  <a:schemeClr val="bg1"/>
                </a:solidFill>
              </a:rPr>
              <a:t> Incorrect meter readings and frequent billing errors.</a:t>
            </a:r>
          </a:p>
          <a:p>
            <a:pPr marL="457200" lvl="0" indent="-307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25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Efficiency:</a:t>
            </a:r>
            <a:r>
              <a:rPr lang="en-US" sz="1600" dirty="0">
                <a:solidFill>
                  <a:schemeClr val="bg1"/>
                </a:solidFill>
              </a:rPr>
              <a:t> Delays in bill generation and payment tracking.</a:t>
            </a:r>
          </a:p>
          <a:p>
            <a:pPr marL="457200" lvl="0" indent="-307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25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Provide real-time dashboards for tracking consumption patterns and revenue.</a:t>
            </a:r>
          </a:p>
          <a:p>
            <a:pPr marL="457200" lvl="0" indent="-307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250"/>
              <a:buChar char="●"/>
            </a:pPr>
            <a:endParaRPr lang="en-US" sz="1600" dirty="0">
              <a:solidFill>
                <a:schemeClr val="bg1"/>
              </a:solidFill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250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869391D-9250-5C81-E9AE-3EDBAB209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Oversight: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Limited visibility into outstanding consumer dues and revenue leakage.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D0FF4-A180-CAB5-605B-0961D700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341745"/>
            <a:ext cx="11214100" cy="480291"/>
          </a:xfrm>
        </p:spPr>
        <p:txBody>
          <a:bodyPr/>
          <a:lstStyle/>
          <a:p>
            <a:r>
              <a:rPr lang="en-IN" sz="2800" dirty="0"/>
              <a:t>Project Objective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ED77BA-1749-6D70-D021-13FE7B1AD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BE415-CDD4-C6E9-A30C-60F12D1C7A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914400"/>
            <a:ext cx="7702805" cy="5765801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/>
              <a:t>Primary Goal</a:t>
            </a:r>
          </a:p>
          <a:p>
            <a:r>
              <a:rPr lang="en-US" dirty="0"/>
              <a:t>The primary goal is to design and develop a secure, full-stack utility billing      app that modernizes the billing lifecycle through automation.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dirty="0"/>
              <a:t>Core Development Goals</a:t>
            </a:r>
            <a:endParaRPr lang="en-US" b="1" dirty="0"/>
          </a:p>
          <a:p>
            <a:r>
              <a:rPr lang="en-US" b="1" dirty="0"/>
              <a:t>Modern Full-Stack Architecture:</a:t>
            </a:r>
            <a:r>
              <a:rPr lang="en-US" dirty="0"/>
              <a:t> Build a robust system using </a:t>
            </a:r>
            <a:r>
              <a:rPr lang="en-US" b="1" dirty="0"/>
              <a:t>ASP.NET Core Web API</a:t>
            </a:r>
            <a:r>
              <a:rPr lang="en-US" dirty="0"/>
              <a:t> for the backend and </a:t>
            </a:r>
            <a:r>
              <a:rPr lang="en-US" b="1" dirty="0"/>
              <a:t>Angular</a:t>
            </a:r>
            <a:r>
              <a:rPr lang="en-US" dirty="0"/>
              <a:t> for the frontend.</a:t>
            </a:r>
          </a:p>
          <a:p>
            <a:r>
              <a:rPr lang="en-US" b="1" dirty="0"/>
              <a:t>Enterprise Security:</a:t>
            </a:r>
            <a:r>
              <a:rPr lang="en-US" dirty="0"/>
              <a:t> Implement </a:t>
            </a:r>
            <a:r>
              <a:rPr lang="en-US" b="1" dirty="0"/>
              <a:t>JWT-based authentication and authorization</a:t>
            </a:r>
            <a:r>
              <a:rPr lang="en-US" dirty="0"/>
              <a:t> to ensure secure role-based access control (RBAC).</a:t>
            </a:r>
            <a:endParaRPr lang="en-IN" dirty="0"/>
          </a:p>
          <a:p>
            <a:r>
              <a:rPr lang="en-US" b="1" dirty="0"/>
              <a:t>Data Integrity</a:t>
            </a:r>
            <a:r>
              <a:rPr lang="en-US" dirty="0"/>
              <a:t>: Apply Clean Architecture and enterprise best practices to manage consumer accounts, meter readings, and financial records accurately.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b="1" dirty="0"/>
              <a:t>Key Technical Outcomes</a:t>
            </a:r>
          </a:p>
          <a:p>
            <a:r>
              <a:rPr lang="en-US" b="1" dirty="0"/>
              <a:t>Automated Billing Workflows:</a:t>
            </a:r>
            <a:r>
              <a:rPr lang="en-US" dirty="0"/>
              <a:t> Demonstrate real-world processes for meter reading validation, invoice generation, and payment tracking.</a:t>
            </a:r>
          </a:p>
          <a:p>
            <a:r>
              <a:rPr lang="en-US" b="1" dirty="0"/>
              <a:t>Cloud-Ready Design:</a:t>
            </a:r>
            <a:r>
              <a:rPr lang="en-US" dirty="0"/>
              <a:t> Ensure the application is scalable, maintainable, and prepared for cloud deployment.</a:t>
            </a:r>
          </a:p>
        </p:txBody>
      </p:sp>
    </p:spTree>
    <p:extLst>
      <p:ext uri="{BB962C8B-B14F-4D97-AF65-F5344CB8AC3E}">
        <p14:creationId xmlns:p14="http://schemas.microsoft.com/office/powerpoint/2010/main" val="3158370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230E-0AC5-A091-6A45-71999EDAF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9101"/>
            <a:ext cx="11214100" cy="485774"/>
          </a:xfrm>
        </p:spPr>
        <p:txBody>
          <a:bodyPr/>
          <a:lstStyle/>
          <a:p>
            <a:r>
              <a:rPr lang="en-IN" sz="2800" dirty="0"/>
              <a:t>Solution and Key Features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CCDEE5-F90A-8C18-917B-43B15A716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B33C2-66B7-C0B3-F282-FD36783713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019175"/>
            <a:ext cx="9528175" cy="5661025"/>
          </a:xfrm>
        </p:spPr>
        <p:txBody>
          <a:bodyPr/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IN" sz="2000" b="1" dirty="0"/>
              <a:t>Automated Bill Generation and Calculation</a:t>
            </a:r>
          </a:p>
          <a:p>
            <a:r>
              <a:rPr lang="en-US" b="0" dirty="0">
                <a:effectLst/>
              </a:rPr>
              <a:t>Auto-generates bills from meter readings with tariff-based calculations</a:t>
            </a:r>
          </a:p>
          <a:p>
            <a:r>
              <a:rPr lang="en-US" b="0" dirty="0">
                <a:effectLst/>
              </a:rPr>
              <a:t>Computes consumption, applies rates, taxes, and penalties</a:t>
            </a:r>
          </a:p>
          <a:p>
            <a:r>
              <a:rPr lang="en-US" b="0" dirty="0">
                <a:effectLst/>
              </a:rPr>
              <a:t>Manages bill lifecycle: Generated → Due → Paid → Overdue</a:t>
            </a:r>
          </a:p>
          <a:p>
            <a:endParaRPr lang="en-US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IN" sz="2000" b="1" dirty="0">
                <a:effectLst/>
              </a:rPr>
              <a:t>Comprehensive Reports &amp; Analytics Dashboard</a:t>
            </a:r>
          </a:p>
          <a:p>
            <a:r>
              <a:rPr lang="en-US" b="0" dirty="0">
                <a:effectLst/>
              </a:rPr>
              <a:t>Monthly revenue, outstanding dues, and consumption reports</a:t>
            </a:r>
          </a:p>
          <a:p>
            <a:r>
              <a:rPr lang="en-US" b="0" dirty="0">
                <a:effectLst/>
              </a:rPr>
              <a:t>Consumer-wise billing summaries with LINQ aggregations</a:t>
            </a:r>
          </a:p>
          <a:p>
            <a:r>
              <a:rPr lang="en-US" b="0" dirty="0">
                <a:effectLst/>
              </a:rPr>
              <a:t>Actionable insights for data-driven decision-making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b="1" dirty="0">
                <a:effectLst/>
              </a:rPr>
              <a:t>Real-Time Payment Tracking &amp; Outstanding Balance Management</a:t>
            </a:r>
          </a:p>
          <a:p>
            <a:r>
              <a:rPr lang="en-US" b="0" dirty="0">
                <a:effectLst/>
              </a:rPr>
              <a:t>Tracks payments (Cash/Online UPI) in real-time</a:t>
            </a:r>
          </a:p>
          <a:p>
            <a:r>
              <a:rPr lang="en-US" b="0" dirty="0">
                <a:effectLst/>
              </a:rPr>
              <a:t>Automatically calculates outstanding balances</a:t>
            </a:r>
          </a:p>
          <a:p>
            <a:r>
              <a:rPr lang="en-US" b="0" dirty="0">
                <a:effectLst/>
              </a:rPr>
              <a:t>System-wide monitoring for Account Officers, personal view for Consumers</a:t>
            </a:r>
          </a:p>
          <a:p>
            <a:endParaRPr lang="en-US" sz="2000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0" dirty="0">
              <a:effectLst/>
            </a:endParaRPr>
          </a:p>
          <a:p>
            <a:pPr marL="0" indent="0">
              <a:buNone/>
            </a:pPr>
            <a:endParaRPr lang="en-US" b="0" dirty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1244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6DA68-98E7-4FBC-E35C-62872272E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24872"/>
            <a:ext cx="11214100" cy="489527"/>
          </a:xfrm>
        </p:spPr>
        <p:txBody>
          <a:bodyPr/>
          <a:lstStyle/>
          <a:p>
            <a:r>
              <a:rPr lang="en-IN" sz="2400" dirty="0"/>
              <a:t>Technology Stack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93AA1F-576F-139F-16BD-BB13FC47E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6A81E-F151-5792-8447-318603BC52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914399"/>
            <a:ext cx="9105900" cy="5943601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/>
              <a:t>Backend</a:t>
            </a:r>
          </a:p>
          <a:p>
            <a:r>
              <a:rPr lang="en-IN" b="1" dirty="0"/>
              <a:t>Framework: </a:t>
            </a:r>
            <a:r>
              <a:rPr lang="en-IN" dirty="0"/>
              <a:t>ASP.NET Core Web API (.NET 8)</a:t>
            </a:r>
          </a:p>
          <a:p>
            <a:r>
              <a:rPr lang="en-IN" b="1" dirty="0"/>
              <a:t>ORM</a:t>
            </a:r>
            <a:r>
              <a:rPr lang="en-IN" dirty="0"/>
              <a:t>: Entity Framework Core</a:t>
            </a:r>
          </a:p>
          <a:p>
            <a:r>
              <a:rPr lang="en-IN" b="1" dirty="0"/>
              <a:t>Database</a:t>
            </a:r>
            <a:r>
              <a:rPr lang="en-IN" dirty="0"/>
              <a:t>: SQL Server</a:t>
            </a:r>
          </a:p>
          <a:p>
            <a:r>
              <a:rPr lang="en-IN" b="1" dirty="0"/>
              <a:t>Authentication</a:t>
            </a:r>
            <a:r>
              <a:rPr lang="en-IN" dirty="0"/>
              <a:t>: JWT (JSON Web Token), Identity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sz="2000" b="1" dirty="0"/>
              <a:t>Frontend</a:t>
            </a:r>
          </a:p>
          <a:p>
            <a:r>
              <a:rPr lang="en-IN" b="1" dirty="0"/>
              <a:t>Framework</a:t>
            </a:r>
            <a:r>
              <a:rPr lang="en-IN" dirty="0"/>
              <a:t>: Angular (Latest)</a:t>
            </a:r>
          </a:p>
          <a:p>
            <a:r>
              <a:rPr lang="en-IN" b="1" dirty="0"/>
              <a:t>UI</a:t>
            </a:r>
            <a:r>
              <a:rPr lang="en-IN" dirty="0"/>
              <a:t> </a:t>
            </a:r>
            <a:r>
              <a:rPr lang="en-IN" b="1" dirty="0"/>
              <a:t>Components</a:t>
            </a:r>
            <a:r>
              <a:rPr lang="en-IN" dirty="0"/>
              <a:t>: Angular Material UI</a:t>
            </a:r>
          </a:p>
          <a:p>
            <a:r>
              <a:rPr lang="en-IN" b="1" dirty="0"/>
              <a:t>State/Data</a:t>
            </a:r>
            <a:r>
              <a:rPr lang="en-IN" dirty="0"/>
              <a:t>: Reactive forms</a:t>
            </a:r>
          </a:p>
          <a:p>
            <a:r>
              <a:rPr lang="en-IN" b="1" dirty="0"/>
              <a:t>Language</a:t>
            </a:r>
            <a:r>
              <a:rPr lang="en-IN" dirty="0"/>
              <a:t>: Typescript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sz="2000" b="1" dirty="0"/>
              <a:t>Tools and Testing</a:t>
            </a:r>
            <a:endParaRPr lang="en-IN" sz="1800" b="1" dirty="0"/>
          </a:p>
          <a:p>
            <a:r>
              <a:rPr lang="en-IN" b="1" dirty="0"/>
              <a:t>API Testing: </a:t>
            </a:r>
            <a:r>
              <a:rPr lang="en-IN" dirty="0"/>
              <a:t>Postman</a:t>
            </a:r>
          </a:p>
          <a:p>
            <a:r>
              <a:rPr lang="en-IN" b="1" dirty="0"/>
              <a:t>Unit Testing: </a:t>
            </a:r>
            <a:r>
              <a:rPr lang="en-IN" dirty="0" err="1"/>
              <a:t>xUnit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9802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73652-C827-C952-7D32-8ABAE6B16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393192"/>
            <a:ext cx="11214100" cy="475488"/>
          </a:xfrm>
        </p:spPr>
        <p:txBody>
          <a:bodyPr/>
          <a:lstStyle/>
          <a:p>
            <a:r>
              <a:rPr lang="en-IN" sz="2800" dirty="0"/>
              <a:t>System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476A8F-9F97-43DC-B693-D10963D6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44814B-5EB5-68A3-51EC-45C5B4F59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3055"/>
            <a:ext cx="12192000" cy="590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69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397164"/>
            <a:ext cx="11214100" cy="365125"/>
          </a:xfrm>
        </p:spPr>
        <p:txBody>
          <a:bodyPr/>
          <a:lstStyle/>
          <a:p>
            <a:r>
              <a:rPr lang="en-US" sz="2400" dirty="0"/>
              <a:t>User Roles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849745"/>
            <a:ext cx="8544052" cy="6008255"/>
          </a:xfrm>
        </p:spPr>
        <p:txBody>
          <a:bodyPr/>
          <a:lstStyle/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2000" b="1" dirty="0"/>
              <a:t>Admin</a:t>
            </a:r>
          </a:p>
          <a:p>
            <a:r>
              <a:rPr lang="en-US" b="1" dirty="0"/>
              <a:t>User Management:</a:t>
            </a:r>
            <a:r>
              <a:rPr lang="en-US" dirty="0"/>
              <a:t> Oversees all system users and their access levels.</a:t>
            </a:r>
          </a:p>
          <a:p>
            <a:pPr>
              <a:spcAft>
                <a:spcPts val="200"/>
              </a:spcAft>
            </a:pPr>
            <a:r>
              <a:rPr lang="en-US" b="1" dirty="0"/>
              <a:t>System Configuration:</a:t>
            </a:r>
            <a:r>
              <a:rPr lang="en-US" dirty="0"/>
              <a:t> Manages utility types, tariff plans, and billing cycles.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000" b="1" dirty="0"/>
              <a:t>Billing Officer</a:t>
            </a:r>
          </a:p>
          <a:p>
            <a:r>
              <a:rPr lang="en-US" b="1" dirty="0"/>
              <a:t>Data Entry: </a:t>
            </a:r>
            <a:r>
              <a:rPr lang="en-US" dirty="0"/>
              <a:t>Responsible for entering monthly meter readings for consumer connections.</a:t>
            </a:r>
          </a:p>
          <a:p>
            <a:pPr>
              <a:spcAft>
                <a:spcPts val="200"/>
              </a:spcAft>
            </a:pPr>
            <a:r>
              <a:rPr lang="en-US" b="1" dirty="0"/>
              <a:t>Bill Generation: </a:t>
            </a:r>
            <a:r>
              <a:rPr lang="en-US" dirty="0"/>
              <a:t>Triggers the generation of periodic bills based on consumption and tariff rules.</a:t>
            </a:r>
          </a:p>
          <a:p>
            <a:endParaRPr lang="en-US" sz="14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000" b="1" dirty="0"/>
              <a:t>Account Officer</a:t>
            </a:r>
          </a:p>
          <a:p>
            <a:r>
              <a:rPr lang="en-US" b="1" dirty="0"/>
              <a:t>Financial Tracking:</a:t>
            </a:r>
            <a:r>
              <a:rPr lang="en-US" dirty="0"/>
              <a:t> Monitors payments and tracks outstanding balances across the organization.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US" b="1" dirty="0"/>
              <a:t>Revenue Management</a:t>
            </a:r>
            <a:r>
              <a:rPr lang="en-US" dirty="0"/>
              <a:t>: Reviews payment history and manages the billing lifecycle from "Generated" to "Paid".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000" b="1" dirty="0"/>
              <a:t>Consumer</a:t>
            </a:r>
          </a:p>
          <a:p>
            <a:r>
              <a:rPr lang="en-US" dirty="0"/>
              <a:t>View bills, payment history, and monitor personal consumption. </a:t>
            </a:r>
            <a:endParaRPr 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86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D45EE-BDD2-830D-AD77-57A20D24B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5134264" cy="535531"/>
          </a:xfrm>
        </p:spPr>
        <p:txBody>
          <a:bodyPr/>
          <a:lstStyle/>
          <a:p>
            <a:r>
              <a:rPr lang="en-IN" dirty="0"/>
              <a:t>System Flowchart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B93341-783D-FD5E-5CCA-AE4FDC743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B828AE-222B-4958-AFC3-642D799ED3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7176" y="1625385"/>
            <a:ext cx="5044498" cy="4784940"/>
          </a:xfrm>
        </p:spPr>
        <p:txBody>
          <a:bodyPr/>
          <a:lstStyle/>
          <a:p>
            <a:r>
              <a:rPr lang="en-US" b="0" i="0" dirty="0">
                <a:effectLst/>
                <a:latin typeface="Segoe WPC"/>
              </a:rPr>
              <a:t>The flowchart shows the end-to-end process from user authentication to reporting. After login with role-based access control (RBAC) and JWT, four user roles access the system: Admin manages configuration and connections; Billing Officer enters meter readings and generates bills; Account Officer tracks payments and outstanding balances; and Consumer views bills and makes payments. </a:t>
            </a:r>
          </a:p>
          <a:p>
            <a:pPr marL="0" indent="0">
              <a:buNone/>
            </a:pPr>
            <a:endParaRPr lang="en-US" b="0" i="0" dirty="0">
              <a:effectLst/>
              <a:latin typeface="Segoe WPC"/>
            </a:endParaRPr>
          </a:p>
          <a:p>
            <a:r>
              <a:rPr lang="en-US" b="0" i="0" dirty="0">
                <a:effectLst/>
                <a:latin typeface="Segoe WPC"/>
              </a:rPr>
              <a:t>The flow includes validation checks, bill lifecycle management (Generated → Due → Overdue), and payment processing, converging into dashboards and reports for revenue, outstanding dues, and consumption analytics.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2D80AB-260D-C533-577F-3083C1C45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957" y="0"/>
            <a:ext cx="63110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433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06895-6573-84D8-C2AE-C1ECE9F0E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09575"/>
            <a:ext cx="11214100" cy="480131"/>
          </a:xfrm>
        </p:spPr>
        <p:txBody>
          <a:bodyPr/>
          <a:lstStyle/>
          <a:p>
            <a:r>
              <a:rPr lang="en-IN" sz="2800" dirty="0"/>
              <a:t>Security Features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BD3E7A-4FD0-E704-9D3E-4714A9C32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70A986-DDC4-697C-70E1-3BA2C3CC94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047750"/>
            <a:ext cx="8511721" cy="5632451"/>
          </a:xfrm>
        </p:spPr>
        <p:txBody>
          <a:bodyPr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IN" sz="2000" b="1" dirty="0"/>
              <a:t>Core Security Pillars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b="1" dirty="0"/>
              <a:t>JWT Authentication: </a:t>
            </a:r>
            <a:r>
              <a:rPr lang="en-US" dirty="0"/>
              <a:t>Implements token-based authentication for secure    communication between the Angular frontend and ASP.NET Core API.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b="1" dirty="0"/>
              <a:t>Role-Based Access Control (RBAC): </a:t>
            </a:r>
            <a:r>
              <a:rPr lang="en-US" dirty="0"/>
              <a:t>Restricts system functionality (Admin, Billing, Account, Consumer) based on verified user identities and assigned permissions.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b="1" dirty="0"/>
              <a:t>Secure API Design: </a:t>
            </a:r>
            <a:r>
              <a:rPr lang="en-US" dirty="0"/>
              <a:t>Protected endpoints for billing and payments to prevent unauthorized data access or manipulation.</a:t>
            </a:r>
          </a:p>
          <a:p>
            <a:endParaRPr lang="en-US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000" b="1" dirty="0"/>
              <a:t>Technical Safeguards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b="1" dirty="0"/>
              <a:t>Data Protection:</a:t>
            </a:r>
            <a:r>
              <a:rPr lang="en-US" dirty="0"/>
              <a:t> Utilizes DTOs (Data Transfer Objects) in the backend to prevent the exposure of sensitive database entities to the client.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b="1" dirty="0"/>
              <a:t>Identity Guards: </a:t>
            </a:r>
            <a:r>
              <a:rPr lang="en-US" dirty="0"/>
              <a:t>Angular-based route guards and HTTP interceptors ensure that only authenticated users with valid tokens can access specific feature modules.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b="1" dirty="0"/>
              <a:t>Robust Error Handling: </a:t>
            </a:r>
            <a:r>
              <a:rPr lang="en-US" dirty="0"/>
              <a:t>A global exception handling middleware masks detailed server-side errors from end users while logging issues for administrators.</a:t>
            </a:r>
          </a:p>
        </p:txBody>
      </p:sp>
    </p:spTree>
    <p:extLst>
      <p:ext uri="{BB962C8B-B14F-4D97-AF65-F5344CB8AC3E}">
        <p14:creationId xmlns:p14="http://schemas.microsoft.com/office/powerpoint/2010/main" val="2533900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12B2-9057-D2BB-479B-CE1FC0939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09576"/>
            <a:ext cx="11214100" cy="476250"/>
          </a:xfrm>
        </p:spPr>
        <p:txBody>
          <a:bodyPr/>
          <a:lstStyle/>
          <a:p>
            <a:r>
              <a:rPr lang="en-IN" dirty="0"/>
              <a:t>Quality Assurance and Testing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E461E4-B91D-4D86-9177-5D6892F69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01C09-9883-81A4-4E3B-6A350F77A0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316736"/>
            <a:ext cx="7748524" cy="5541263"/>
          </a:xfrm>
        </p:spPr>
        <p:txBody>
          <a:bodyPr/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b="0" dirty="0">
                <a:effectLst/>
              </a:rPr>
              <a:t>Unit testing using </a:t>
            </a:r>
            <a:r>
              <a:rPr lang="en-US" b="1" dirty="0" err="1">
                <a:effectLst/>
              </a:rPr>
              <a:t>xUnit</a:t>
            </a:r>
            <a:r>
              <a:rPr lang="en-US" b="0" dirty="0">
                <a:effectLst/>
              </a:rPr>
              <a:t> framework validates individual service components, business logic, and data calculations including bill generation, payment processing, and </a:t>
            </a:r>
            <a:r>
              <a:rPr lang="en-US" b="1" dirty="0">
                <a:effectLst/>
              </a:rPr>
              <a:t>LINQ-based</a:t>
            </a:r>
            <a:r>
              <a:rPr lang="en-US" b="0" dirty="0">
                <a:effectLst/>
              </a:rPr>
              <a:t> report aggregations. 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b="0" dirty="0">
                <a:effectLst/>
              </a:rPr>
              <a:t>Integration testing through </a:t>
            </a:r>
            <a:r>
              <a:rPr lang="en-US" b="1" dirty="0">
                <a:effectLst/>
              </a:rPr>
              <a:t>Postman</a:t>
            </a:r>
            <a:r>
              <a:rPr lang="en-US" b="0" dirty="0">
                <a:effectLst/>
              </a:rPr>
              <a:t> verifies all REST API endpoints, covering successful operations, error handling, validation scenarios, and edge cases.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b="0" dirty="0">
                <a:effectLst/>
              </a:rPr>
              <a:t>Extensive </a:t>
            </a:r>
            <a:r>
              <a:rPr lang="en-US" b="1" dirty="0">
                <a:effectLst/>
              </a:rPr>
              <a:t>authentication and authorization </a:t>
            </a:r>
            <a:r>
              <a:rPr lang="en-US" b="0" dirty="0">
                <a:effectLst/>
              </a:rPr>
              <a:t>test cases ensure JWT token generation and validation, role-based access control enforcement across Admin, Billing Officer, Account Officer, and Consumer roles, and secure data isolation. </a:t>
            </a:r>
          </a:p>
          <a:p>
            <a:pPr marL="0" indent="0">
              <a:buNone/>
            </a:pPr>
            <a:endParaRPr lang="en-US" dirty="0">
              <a:solidFill>
                <a:srgbClr val="E4E4E4"/>
              </a:solidFill>
            </a:endParaRPr>
          </a:p>
          <a:p>
            <a:pPr marL="0" indent="0">
              <a:buNone/>
            </a:pPr>
            <a:r>
              <a:rPr lang="en-US" sz="2000" b="1" dirty="0">
                <a:effectLst/>
              </a:rPr>
              <a:t>Tools Used</a:t>
            </a:r>
          </a:p>
          <a:p>
            <a:r>
              <a:rPr lang="en-IN" b="1" dirty="0" err="1"/>
              <a:t>xUnit</a:t>
            </a:r>
            <a:r>
              <a:rPr lang="en-IN" b="1" dirty="0"/>
              <a:t> </a:t>
            </a:r>
            <a:r>
              <a:rPr lang="en-IN" dirty="0"/>
              <a:t>– unit &amp; integration tests (.NET)</a:t>
            </a:r>
          </a:p>
          <a:p>
            <a:r>
              <a:rPr lang="en-IN" dirty="0"/>
              <a:t>Postman – API testing</a:t>
            </a:r>
          </a:p>
          <a:p>
            <a:r>
              <a:rPr lang="en-IN" dirty="0"/>
              <a:t>Swagger – API documentation &amp; quick verification</a:t>
            </a:r>
          </a:p>
        </p:txBody>
      </p:sp>
    </p:spTree>
    <p:extLst>
      <p:ext uri="{BB962C8B-B14F-4D97-AF65-F5344CB8AC3E}">
        <p14:creationId xmlns:p14="http://schemas.microsoft.com/office/powerpoint/2010/main" val="3333116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882ED-33D9-6721-761E-3265A8A0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5556" y="177800"/>
            <a:ext cx="11214100" cy="480131"/>
          </a:xfrm>
        </p:spPr>
        <p:txBody>
          <a:bodyPr/>
          <a:lstStyle/>
          <a:p>
            <a:r>
              <a:rPr lang="en-IN" sz="2800" dirty="0"/>
              <a:t>Admin Dashboard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B510B0-30C0-23E1-ABD9-E98B11C10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12</a:t>
            </a:fld>
            <a:endParaRPr lang="en-US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DECCCC-BE39-8C52-BE8C-A691AF57D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3775"/>
            <a:ext cx="12192000" cy="617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848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882ED-33D9-6721-761E-3265A8A0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532" y="323469"/>
            <a:ext cx="11214100" cy="480131"/>
          </a:xfrm>
        </p:spPr>
        <p:txBody>
          <a:bodyPr/>
          <a:lstStyle/>
          <a:p>
            <a:r>
              <a:rPr lang="en-IN" sz="2800" dirty="0"/>
              <a:t>Billing Officer – Meter Reading Screen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B510B0-30C0-23E1-ABD9-E98B11C10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13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31BA9A-77FC-96DC-872F-5A30396E8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3600"/>
            <a:ext cx="12192000" cy="617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750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882ED-33D9-6721-761E-3265A8A0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40" y="177800"/>
            <a:ext cx="11214100" cy="480131"/>
          </a:xfrm>
        </p:spPr>
        <p:txBody>
          <a:bodyPr/>
          <a:lstStyle/>
          <a:p>
            <a:r>
              <a:rPr lang="en-IN" sz="2800" dirty="0"/>
              <a:t>Account Officer Dashboard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B510B0-30C0-23E1-ABD9-E98B11C10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14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8AC91D-4C64-5700-F785-78468FBBC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8736"/>
            <a:ext cx="12192000" cy="615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092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D4CB6-1771-65F1-AB85-912C16326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940" y="177800"/>
            <a:ext cx="11214100" cy="480131"/>
          </a:xfrm>
        </p:spPr>
        <p:txBody>
          <a:bodyPr/>
          <a:lstStyle/>
          <a:p>
            <a:r>
              <a:rPr lang="en-IN" sz="2800" dirty="0"/>
              <a:t>Consumer Dashboard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09460C-37D4-2854-3B94-ABADD0081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15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15BF55-6F1E-E51B-F6DD-B4FB8B4B0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5821"/>
            <a:ext cx="12192000" cy="614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198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2966" y="2925249"/>
            <a:ext cx="5047601" cy="3030082"/>
          </a:xfrm>
        </p:spPr>
        <p:txBody>
          <a:bodyPr/>
          <a:lstStyle/>
          <a:p>
            <a:r>
              <a:rPr lang="en-GB" sz="4400" dirty="0"/>
              <a:t>Live Demonstration</a:t>
            </a:r>
            <a:br>
              <a:rPr lang="en-GB" sz="4400" dirty="0"/>
            </a:br>
            <a:br>
              <a:rPr lang="en-GB" sz="4400" dirty="0"/>
            </a:b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462</TotalTime>
  <Words>972</Words>
  <Application>Microsoft Office PowerPoint</Application>
  <PresentationFormat>Widescreen</PresentationFormat>
  <Paragraphs>134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Consolas</vt:lpstr>
      <vt:lpstr>Segoe WPC</vt:lpstr>
      <vt:lpstr>Trade Gothic LT Pro</vt:lpstr>
      <vt:lpstr>Trebuchet MS</vt:lpstr>
      <vt:lpstr>Office Theme</vt:lpstr>
      <vt:lpstr>Utility Billing System</vt:lpstr>
      <vt:lpstr>Table of Content</vt:lpstr>
      <vt:lpstr>Business Context &amp; Problem Statement</vt:lpstr>
      <vt:lpstr>Project Objective</vt:lpstr>
      <vt:lpstr>Solution and Key Features</vt:lpstr>
      <vt:lpstr>Technology Stack</vt:lpstr>
      <vt:lpstr>System Architecture</vt:lpstr>
      <vt:lpstr>User Roles</vt:lpstr>
      <vt:lpstr>System Flowchart</vt:lpstr>
      <vt:lpstr>Security Features</vt:lpstr>
      <vt:lpstr>Quality Assurance and Testing</vt:lpstr>
      <vt:lpstr>Admin Dashboard</vt:lpstr>
      <vt:lpstr>Billing Officer – Meter Reading Screen</vt:lpstr>
      <vt:lpstr>Account Officer Dashboard</vt:lpstr>
      <vt:lpstr>Consumer Dashboard</vt:lpstr>
      <vt:lpstr>Live Demonstration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Shikhar Srivastava</dc:creator>
  <cp:lastModifiedBy>Shikhar Srivastava</cp:lastModifiedBy>
  <cp:revision>9</cp:revision>
  <dcterms:created xsi:type="dcterms:W3CDTF">2026-01-05T06:40:59Z</dcterms:created>
  <dcterms:modified xsi:type="dcterms:W3CDTF">2026-01-06T07:20:00Z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